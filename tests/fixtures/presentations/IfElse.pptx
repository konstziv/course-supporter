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3716000" cx="2438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  <p:embeddedFont>
      <p:font typeface="Helvetica Neue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hmi6srGQZPhu/xoW0WftCC2TNd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HelveticaNeu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elveticaNeue-italic.fntdata"/><Relationship Id="rId30" Type="http://schemas.openxmlformats.org/officeDocument/2006/relationships/font" Target="fonts/HelveticaNeue-bold.fntdata"/><Relationship Id="rId11" Type="http://schemas.openxmlformats.org/officeDocument/2006/relationships/slide" Target="slides/slide7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6.xml"/><Relationship Id="rId32" Type="http://schemas.openxmlformats.org/officeDocument/2006/relationships/font" Target="fonts/HelveticaNeue-boldItalic.fntdata"/><Relationship Id="rId13" Type="http://schemas.openxmlformats.org/officeDocument/2006/relationships/slide" Target="slides/slide9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34" Type="http://schemas.openxmlformats.org/officeDocument/2006/relationships/font" Target="fonts/MontserratExtraBold-boldItalic.fntdata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61548fcfa_1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g3161548fcfa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61548fcfa_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g3161548fcfa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61548fcfa_1_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161548fcfa_1_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61548fcfa_1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161548fcfa_1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61548fcfa_1_1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161548fcfa_1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61548fcfa_1_1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161548fcfa_1_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42b68fc57_0_6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142b68fc57_0_6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42b68fc57_0_6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142b68fc57_0_6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AND_BODY_1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142b68fc57_0_431"/>
          <p:cNvSpPr/>
          <p:nvPr/>
        </p:nvSpPr>
        <p:spPr>
          <a:xfrm>
            <a:off x="4066133" y="1793615"/>
            <a:ext cx="2884369" cy="2999904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g3142b68fc57_0_431"/>
          <p:cNvSpPr/>
          <p:nvPr/>
        </p:nvSpPr>
        <p:spPr>
          <a:xfrm rot="10800000">
            <a:off x="17433464" y="8914429"/>
            <a:ext cx="2884369" cy="2999904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3" name="Google Shape;13;g3142b68fc57_0_431"/>
          <p:cNvCxnSpPr/>
          <p:nvPr/>
        </p:nvCxnSpPr>
        <p:spPr>
          <a:xfrm>
            <a:off x="11625604" y="7513237"/>
            <a:ext cx="1132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" name="Google Shape;14;g3142b68fc57_0_431"/>
          <p:cNvSpPr txBox="1"/>
          <p:nvPr>
            <p:ph type="ctrTitle"/>
          </p:nvPr>
        </p:nvSpPr>
        <p:spPr>
          <a:xfrm>
            <a:off x="4480804" y="3170467"/>
            <a:ext cx="15422400" cy="38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/>
        </p:txBody>
      </p:sp>
      <p:sp>
        <p:nvSpPr>
          <p:cNvPr id="15" name="Google Shape;15;g3142b68fc57_0_431"/>
          <p:cNvSpPr txBox="1"/>
          <p:nvPr>
            <p:ph idx="1" type="subTitle"/>
          </p:nvPr>
        </p:nvSpPr>
        <p:spPr>
          <a:xfrm>
            <a:off x="4480804" y="8131867"/>
            <a:ext cx="15422400" cy="24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400"/>
              <a:buFont typeface="Roboto Slab"/>
              <a:buNone/>
              <a:defRPr sz="6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" name="Google Shape;16;g3142b68fc57_0_43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g3142b68fc57_0_438"/>
          <p:cNvCxnSpPr/>
          <p:nvPr/>
        </p:nvCxnSpPr>
        <p:spPr>
          <a:xfrm>
            <a:off x="11625604" y="7513237"/>
            <a:ext cx="1132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g3142b68fc57_0_438"/>
          <p:cNvSpPr txBox="1"/>
          <p:nvPr>
            <p:ph type="title"/>
          </p:nvPr>
        </p:nvSpPr>
        <p:spPr>
          <a:xfrm>
            <a:off x="1282000" y="4706534"/>
            <a:ext cx="21925500" cy="24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20" name="Google Shape;20;g3142b68fc57_0_438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142b68fc57_0_442"/>
          <p:cNvCxnSpPr/>
          <p:nvPr/>
        </p:nvCxnSpPr>
        <p:spPr>
          <a:xfrm>
            <a:off x="1313501" y="3360757"/>
            <a:ext cx="1132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142b68fc57_0_442"/>
          <p:cNvSpPr txBox="1"/>
          <p:nvPr>
            <p:ph type="title"/>
          </p:nvPr>
        </p:nvSpPr>
        <p:spPr>
          <a:xfrm>
            <a:off x="1034400" y="1221400"/>
            <a:ext cx="223152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24" name="Google Shape;24;g3142b68fc57_0_442"/>
          <p:cNvSpPr txBox="1"/>
          <p:nvPr>
            <p:ph idx="1" type="body"/>
          </p:nvPr>
        </p:nvSpPr>
        <p:spPr>
          <a:xfrm>
            <a:off x="1034400" y="3972864"/>
            <a:ext cx="22315200" cy="8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25" name="Google Shape;25;g3142b68fc57_0_442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g3142b68fc57_0_447"/>
          <p:cNvCxnSpPr/>
          <p:nvPr/>
        </p:nvCxnSpPr>
        <p:spPr>
          <a:xfrm>
            <a:off x="1313501" y="3360757"/>
            <a:ext cx="1132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g3142b68fc57_0_447"/>
          <p:cNvSpPr txBox="1"/>
          <p:nvPr>
            <p:ph type="title"/>
          </p:nvPr>
        </p:nvSpPr>
        <p:spPr>
          <a:xfrm>
            <a:off x="1034400" y="1221400"/>
            <a:ext cx="223152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29" name="Google Shape;29;g3142b68fc57_0_447"/>
          <p:cNvSpPr txBox="1"/>
          <p:nvPr>
            <p:ph idx="1" type="body"/>
          </p:nvPr>
        </p:nvSpPr>
        <p:spPr>
          <a:xfrm>
            <a:off x="1034400" y="3972867"/>
            <a:ext cx="10666500" cy="8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0" name="Google Shape;30;g3142b68fc57_0_447"/>
          <p:cNvSpPr txBox="1"/>
          <p:nvPr>
            <p:ph idx="2" type="body"/>
          </p:nvPr>
        </p:nvSpPr>
        <p:spPr>
          <a:xfrm>
            <a:off x="12683200" y="3972867"/>
            <a:ext cx="10666500" cy="8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63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indent="-431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1" name="Google Shape;31;g3142b68fc57_0_44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42b68fc57_0_453"/>
          <p:cNvSpPr txBox="1"/>
          <p:nvPr>
            <p:ph type="title"/>
          </p:nvPr>
        </p:nvSpPr>
        <p:spPr>
          <a:xfrm>
            <a:off x="1034400" y="1221400"/>
            <a:ext cx="223152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9pPr>
          </a:lstStyle>
          <a:p/>
        </p:txBody>
      </p:sp>
      <p:sp>
        <p:nvSpPr>
          <p:cNvPr id="34" name="Google Shape;34;g3142b68fc57_0_453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g3142b68fc57_0_456"/>
          <p:cNvCxnSpPr/>
          <p:nvPr/>
        </p:nvCxnSpPr>
        <p:spPr>
          <a:xfrm>
            <a:off x="1304582" y="3766072"/>
            <a:ext cx="884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g3142b68fc57_0_456"/>
          <p:cNvSpPr txBox="1"/>
          <p:nvPr>
            <p:ph type="title"/>
          </p:nvPr>
        </p:nvSpPr>
        <p:spPr>
          <a:xfrm>
            <a:off x="1034400" y="1481600"/>
            <a:ext cx="74880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142b68fc57_0_456"/>
          <p:cNvSpPr txBox="1"/>
          <p:nvPr>
            <p:ph idx="1" type="body"/>
          </p:nvPr>
        </p:nvSpPr>
        <p:spPr>
          <a:xfrm>
            <a:off x="1034400" y="4250734"/>
            <a:ext cx="7488000" cy="7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6pPr>
            <a:lvl7pPr indent="-431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7pPr>
            <a:lvl8pPr indent="-431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/>
            </a:lvl8pPr>
            <a:lvl9pPr indent="-431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■"/>
              <a:defRPr sz="3200"/>
            </a:lvl9pPr>
          </a:lstStyle>
          <a:p/>
        </p:txBody>
      </p:sp>
      <p:sp>
        <p:nvSpPr>
          <p:cNvPr id="39" name="Google Shape;39;g3142b68fc57_0_456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142b68fc57_0_461"/>
          <p:cNvSpPr txBox="1"/>
          <p:nvPr>
            <p:ph type="title"/>
          </p:nvPr>
        </p:nvSpPr>
        <p:spPr>
          <a:xfrm>
            <a:off x="1307333" y="1403600"/>
            <a:ext cx="14983200" cy="1090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42" name="Google Shape;42;g3142b68fc57_0_46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142b68fc57_0_464"/>
          <p:cNvSpPr/>
          <p:nvPr/>
        </p:nvSpPr>
        <p:spPr>
          <a:xfrm>
            <a:off x="12192000" y="-200"/>
            <a:ext cx="12192000" cy="137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g3142b68fc57_0_464"/>
          <p:cNvCxnSpPr/>
          <p:nvPr/>
        </p:nvCxnSpPr>
        <p:spPr>
          <a:xfrm>
            <a:off x="13412467" y="11988008"/>
            <a:ext cx="14424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g3142b68fc57_0_464"/>
          <p:cNvSpPr txBox="1"/>
          <p:nvPr>
            <p:ph type="title"/>
          </p:nvPr>
        </p:nvSpPr>
        <p:spPr>
          <a:xfrm>
            <a:off x="708000" y="3224200"/>
            <a:ext cx="10787100" cy="40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00"/>
              <a:buNone/>
              <a:defRPr sz="10100"/>
            </a:lvl9pPr>
          </a:lstStyle>
          <a:p/>
        </p:txBody>
      </p:sp>
      <p:sp>
        <p:nvSpPr>
          <p:cNvPr id="47" name="Google Shape;47;g3142b68fc57_0_464"/>
          <p:cNvSpPr txBox="1"/>
          <p:nvPr>
            <p:ph idx="1" type="subTitle"/>
          </p:nvPr>
        </p:nvSpPr>
        <p:spPr>
          <a:xfrm>
            <a:off x="708000" y="7384003"/>
            <a:ext cx="107871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600"/>
              <a:buNone/>
              <a:defRPr sz="56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8" name="Google Shape;48;g3142b68fc57_0_464"/>
          <p:cNvSpPr txBox="1"/>
          <p:nvPr>
            <p:ph idx="2" type="body"/>
          </p:nvPr>
        </p:nvSpPr>
        <p:spPr>
          <a:xfrm>
            <a:off x="13172000" y="1931200"/>
            <a:ext cx="10232100" cy="9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533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49" name="Google Shape;49;g3142b68fc57_0_46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42b68fc57_0_471"/>
          <p:cNvSpPr txBox="1"/>
          <p:nvPr>
            <p:ph idx="1" type="body"/>
          </p:nvPr>
        </p:nvSpPr>
        <p:spPr>
          <a:xfrm>
            <a:off x="852000" y="11289933"/>
            <a:ext cx="15996900" cy="159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2" name="Google Shape;52;g3142b68fc57_0_471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142b68fc57_0_474"/>
          <p:cNvSpPr/>
          <p:nvPr/>
        </p:nvSpPr>
        <p:spPr>
          <a:xfrm>
            <a:off x="400" y="13538200"/>
            <a:ext cx="24383100" cy="17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243800" lIns="243800" spcFirstLastPara="1" rIns="243800" wrap="square" tIns="24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142b68fc57_0_474"/>
          <p:cNvSpPr txBox="1"/>
          <p:nvPr>
            <p:ph hasCustomPrompt="1" type="title"/>
          </p:nvPr>
        </p:nvSpPr>
        <p:spPr>
          <a:xfrm>
            <a:off x="1034400" y="3073200"/>
            <a:ext cx="22315200" cy="4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4700"/>
              <a:buNone/>
              <a:defRPr sz="347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142b68fc57_0_474"/>
          <p:cNvSpPr txBox="1"/>
          <p:nvPr>
            <p:ph idx="1" type="body"/>
          </p:nvPr>
        </p:nvSpPr>
        <p:spPr>
          <a:xfrm>
            <a:off x="1034400" y="7785200"/>
            <a:ext cx="223152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indent="-4635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2pPr>
            <a:lvl3pPr indent="-4635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3pPr>
            <a:lvl4pPr indent="-4635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4pPr>
            <a:lvl5pPr indent="-4635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5pPr>
            <a:lvl6pPr indent="-4635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6pPr>
            <a:lvl7pPr indent="-4635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●"/>
              <a:defRPr/>
            </a:lvl7pPr>
            <a:lvl8pPr indent="-4635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○"/>
              <a:defRPr/>
            </a:lvl8pPr>
            <a:lvl9pPr indent="-4635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Char char="■"/>
              <a:defRPr/>
            </a:lvl9pPr>
          </a:lstStyle>
          <a:p/>
        </p:txBody>
      </p:sp>
      <p:sp>
        <p:nvSpPr>
          <p:cNvPr id="57" name="Google Shape;57;g3142b68fc57_0_474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42b68fc57_0_479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142b68fc57_0_427"/>
          <p:cNvSpPr txBox="1"/>
          <p:nvPr>
            <p:ph type="title"/>
          </p:nvPr>
        </p:nvSpPr>
        <p:spPr>
          <a:xfrm>
            <a:off x="1034400" y="1221400"/>
            <a:ext cx="22315200" cy="18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243800" lIns="243800" spcFirstLastPara="1" rIns="243800" wrap="square" tIns="243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Roboto Slab"/>
              <a:buNone/>
              <a:defRPr b="0" i="0" sz="8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142b68fc57_0_427"/>
          <p:cNvSpPr txBox="1"/>
          <p:nvPr>
            <p:ph idx="1" type="body"/>
          </p:nvPr>
        </p:nvSpPr>
        <p:spPr>
          <a:xfrm>
            <a:off x="1034400" y="3972864"/>
            <a:ext cx="22315200" cy="82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normAutofit/>
          </a:bodyPr>
          <a:lstStyle>
            <a:lvl1pPr indent="-533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Roboto"/>
              <a:buChar char="●"/>
              <a:defRPr b="0" i="0" sz="4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635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○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4635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■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4635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●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4635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○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4635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■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4635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●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4635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○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4635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Char char="■"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142b68fc57_0_427"/>
          <p:cNvSpPr txBox="1"/>
          <p:nvPr>
            <p:ph idx="12" type="sldNum"/>
          </p:nvPr>
        </p:nvSpPr>
        <p:spPr>
          <a:xfrm>
            <a:off x="22593221" y="12435245"/>
            <a:ext cx="1463100" cy="10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43800" lIns="243800" spcFirstLastPara="1" rIns="243800" wrap="square" tIns="2438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b="0" i="0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306450" y="3225650"/>
            <a:ext cx="23771100" cy="35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0"/>
              <a:buFont typeface="Montserrat ExtraBold"/>
              <a:buNone/>
            </a:pPr>
            <a:r>
              <a:rPr b="0" i="0" lang="en-US" sz="222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PYTHON: basics</a:t>
            </a:r>
            <a:r>
              <a:rPr b="0" i="0" lang="en-US" sz="225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b="0" i="0" sz="225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0" y="12661900"/>
            <a:ext cx="24384000" cy="912900"/>
          </a:xfrm>
          <a:prstGeom prst="rect">
            <a:avLst/>
          </a:prstGeom>
          <a:solidFill>
            <a:srgbClr val="0051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926825" y="9794775"/>
            <a:ext cx="147345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800"/>
              <a:buFont typeface="Montserrat ExtraBold"/>
              <a:buChar char="-"/>
            </a:pPr>
            <a:r>
              <a:rPr lang="en-US" sz="5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керуючи структури: if … else …</a:t>
            </a:r>
            <a:endParaRPr b="0" i="0" sz="5800" u="none" cap="none" strike="noStrike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-73375" y="461025"/>
            <a:ext cx="245319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/>
        </p:nvSpPr>
        <p:spPr>
          <a:xfrm>
            <a:off x="725796" y="1179700"/>
            <a:ext cx="14704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Лінійна структура коду</a:t>
            </a:r>
            <a:r>
              <a:rPr b="0" i="0" lang="en-US" sz="6600" u="none" cap="none" strike="noStrik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647" y="12686976"/>
            <a:ext cx="24483555" cy="8727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6550" y="2680500"/>
            <a:ext cx="13167150" cy="790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61548fcfa_1_2"/>
          <p:cNvSpPr txBox="1"/>
          <p:nvPr/>
        </p:nvSpPr>
        <p:spPr>
          <a:xfrm>
            <a:off x="725801" y="1179700"/>
            <a:ext cx="18623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Код, в якому дії залежать від умови.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" name="Google Shape;83;g3161548fcfa_1_2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4" name="Google Shape;84;g3161548fcfa_1_2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g3161548fcfa_1_2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g3161548fcfa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50500"/>
            <a:ext cx="8912350" cy="9187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161548fcfa_1_2"/>
          <p:cNvSpPr txBox="1"/>
          <p:nvPr/>
        </p:nvSpPr>
        <p:spPr>
          <a:xfrm>
            <a:off x="8721325" y="6056700"/>
            <a:ext cx="85287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Для реалізації в коді можливості обирати варіанти дій в залежності від якоїсь умови існують спеціальні конструкції.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61548fcfa_1_12"/>
          <p:cNvSpPr txBox="1"/>
          <p:nvPr/>
        </p:nvSpPr>
        <p:spPr>
          <a:xfrm>
            <a:off x="725801" y="1185050"/>
            <a:ext cx="18623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if: базовий синтаксис</a:t>
            </a: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161548fcfa_1_12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4" name="Google Shape;94;g3161548fcfa_1_12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g3161548fcfa_1_12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161548fcfa_1_12"/>
          <p:cNvSpPr txBox="1"/>
          <p:nvPr/>
        </p:nvSpPr>
        <p:spPr>
          <a:xfrm>
            <a:off x="7175875" y="4930975"/>
            <a:ext cx="4254900" cy="23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if &lt;expression&gt;:</a:t>
            </a:r>
            <a:endParaRPr b="1" sz="3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b="1" sz="3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b="1" sz="3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&lt;statement&gt;</a:t>
            </a:r>
            <a:endParaRPr b="1" sz="3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g3161548fcfa_1_12"/>
          <p:cNvSpPr/>
          <p:nvPr/>
        </p:nvSpPr>
        <p:spPr>
          <a:xfrm>
            <a:off x="936725" y="3123275"/>
            <a:ext cx="4483800" cy="87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ключове слово “if”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" name="Google Shape;98;g3161548fcfa_1_12"/>
          <p:cNvSpPr/>
          <p:nvPr/>
        </p:nvSpPr>
        <p:spPr>
          <a:xfrm>
            <a:off x="6336100" y="2522375"/>
            <a:ext cx="6563700" cy="147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вираз, який обчислюється і оцінюється в “булевському контексті” (True/False)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9" name="Google Shape;99;g3161548fcfa_1_12"/>
          <p:cNvSpPr/>
          <p:nvPr/>
        </p:nvSpPr>
        <p:spPr>
          <a:xfrm>
            <a:off x="725800" y="5384425"/>
            <a:ext cx="4254900" cy="2380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відступ, який </a:t>
            </a: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позначає</a:t>
            </a: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окремий блок коду (зазвичай - 4 пробіли)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g3161548fcfa_1_12"/>
          <p:cNvSpPr/>
          <p:nvPr/>
        </p:nvSpPr>
        <p:spPr>
          <a:xfrm>
            <a:off x="9026100" y="9374650"/>
            <a:ext cx="5705400" cy="147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оператор Python (або декілька операторів), які поєднані в блок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1" name="Google Shape;101;g3161548fcfa_1_12"/>
          <p:cNvSpPr/>
          <p:nvPr/>
        </p:nvSpPr>
        <p:spPr>
          <a:xfrm>
            <a:off x="12517925" y="4930975"/>
            <a:ext cx="4483800" cy="2834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“:” - двокрапка позначає що вираз (&lt;expression&gt;) закінчився і блок операторів почався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2" name="Google Shape;102;g3161548fcfa_1_12"/>
          <p:cNvSpPr/>
          <p:nvPr/>
        </p:nvSpPr>
        <p:spPr>
          <a:xfrm>
            <a:off x="5420500" y="4010600"/>
            <a:ext cx="1888900" cy="1259275"/>
          </a:xfrm>
          <a:custGeom>
            <a:rect b="b" l="l" r="r" t="t"/>
            <a:pathLst>
              <a:path extrusionOk="0" h="50371" w="75556">
                <a:moveTo>
                  <a:pt x="0" y="0"/>
                </a:moveTo>
                <a:cubicBezTo>
                  <a:pt x="7123" y="7250"/>
                  <a:pt x="30146" y="35107"/>
                  <a:pt x="42739" y="43502"/>
                </a:cubicBezTo>
                <a:cubicBezTo>
                  <a:pt x="55332" y="51897"/>
                  <a:pt x="70087" y="49226"/>
                  <a:pt x="75556" y="5037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103" name="Google Shape;103;g3161548fcfa_1_12"/>
          <p:cNvCxnSpPr/>
          <p:nvPr/>
        </p:nvCxnSpPr>
        <p:spPr>
          <a:xfrm>
            <a:off x="7271375" y="5308025"/>
            <a:ext cx="19200" cy="25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g3161548fcfa_1_12"/>
          <p:cNvCxnSpPr/>
          <p:nvPr/>
        </p:nvCxnSpPr>
        <p:spPr>
          <a:xfrm>
            <a:off x="8185775" y="5689025"/>
            <a:ext cx="19200" cy="25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g3161548fcfa_1_12"/>
          <p:cNvCxnSpPr/>
          <p:nvPr/>
        </p:nvCxnSpPr>
        <p:spPr>
          <a:xfrm>
            <a:off x="6488975" y="7464050"/>
            <a:ext cx="1736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" name="Google Shape;106;g3161548fcfa_1_12"/>
          <p:cNvCxnSpPr/>
          <p:nvPr/>
        </p:nvCxnSpPr>
        <p:spPr>
          <a:xfrm flipH="1" rot="10800000">
            <a:off x="7271500" y="7464000"/>
            <a:ext cx="954000" cy="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07" name="Google Shape;107;g3161548fcfa_1_12"/>
          <p:cNvSpPr/>
          <p:nvPr/>
        </p:nvSpPr>
        <p:spPr>
          <a:xfrm>
            <a:off x="5000750" y="6542066"/>
            <a:ext cx="2709325" cy="902900"/>
          </a:xfrm>
          <a:custGeom>
            <a:rect b="b" l="l" r="r" t="t"/>
            <a:pathLst>
              <a:path extrusionOk="0" h="36116" w="108373">
                <a:moveTo>
                  <a:pt x="0" y="1009"/>
                </a:moveTo>
                <a:cubicBezTo>
                  <a:pt x="11830" y="1391"/>
                  <a:pt x="52915" y="-2552"/>
                  <a:pt x="70977" y="3299"/>
                </a:cubicBezTo>
                <a:cubicBezTo>
                  <a:pt x="89039" y="9150"/>
                  <a:pt x="102140" y="30647"/>
                  <a:pt x="108373" y="36116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08" name="Google Shape;108;g3161548fcfa_1_12"/>
          <p:cNvSpPr/>
          <p:nvPr/>
        </p:nvSpPr>
        <p:spPr>
          <a:xfrm rot="-5400000">
            <a:off x="9169700" y="3605425"/>
            <a:ext cx="362400" cy="2556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g3161548fcfa_1_12"/>
          <p:cNvSpPr/>
          <p:nvPr/>
        </p:nvSpPr>
        <p:spPr>
          <a:xfrm>
            <a:off x="8358800" y="4010600"/>
            <a:ext cx="1030300" cy="667800"/>
          </a:xfrm>
          <a:custGeom>
            <a:rect b="b" l="l" r="r" t="t"/>
            <a:pathLst>
              <a:path extrusionOk="0" h="26712" w="41212">
                <a:moveTo>
                  <a:pt x="0" y="0"/>
                </a:moveTo>
                <a:cubicBezTo>
                  <a:pt x="5342" y="1527"/>
                  <a:pt x="25185" y="4707"/>
                  <a:pt x="32054" y="9159"/>
                </a:cubicBezTo>
                <a:cubicBezTo>
                  <a:pt x="38923" y="13611"/>
                  <a:pt x="39686" y="23787"/>
                  <a:pt x="41212" y="26712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0" name="Google Shape;110;g3161548fcfa_1_12"/>
          <p:cNvSpPr/>
          <p:nvPr/>
        </p:nvSpPr>
        <p:spPr>
          <a:xfrm>
            <a:off x="10781925" y="5243832"/>
            <a:ext cx="1736275" cy="1113575"/>
          </a:xfrm>
          <a:custGeom>
            <a:rect b="b" l="l" r="r" t="t"/>
            <a:pathLst>
              <a:path extrusionOk="0" h="44543" w="69451">
                <a:moveTo>
                  <a:pt x="69451" y="44544"/>
                </a:moveTo>
                <a:cubicBezTo>
                  <a:pt x="63854" y="41746"/>
                  <a:pt x="42740" y="34877"/>
                  <a:pt x="35871" y="27754"/>
                </a:cubicBezTo>
                <a:cubicBezTo>
                  <a:pt x="29002" y="20631"/>
                  <a:pt x="34218" y="6003"/>
                  <a:pt x="28239" y="1805"/>
                </a:cubicBezTo>
                <a:cubicBezTo>
                  <a:pt x="22261" y="-2393"/>
                  <a:pt x="4707" y="2441"/>
                  <a:pt x="0" y="2568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11" name="Google Shape;111;g3161548fcfa_1_12"/>
          <p:cNvSpPr/>
          <p:nvPr/>
        </p:nvSpPr>
        <p:spPr>
          <a:xfrm>
            <a:off x="10705625" y="5594225"/>
            <a:ext cx="381600" cy="1373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161548fcfa_1_12"/>
          <p:cNvSpPr/>
          <p:nvPr/>
        </p:nvSpPr>
        <p:spPr>
          <a:xfrm>
            <a:off x="11049050" y="6262025"/>
            <a:ext cx="917750" cy="3129100"/>
          </a:xfrm>
          <a:custGeom>
            <a:rect b="b" l="l" r="r" t="t"/>
            <a:pathLst>
              <a:path extrusionOk="0" h="125164" w="36710">
                <a:moveTo>
                  <a:pt x="30528" y="125164"/>
                </a:moveTo>
                <a:cubicBezTo>
                  <a:pt x="31291" y="107356"/>
                  <a:pt x="40195" y="39178"/>
                  <a:pt x="35107" y="18317"/>
                </a:cubicBezTo>
                <a:cubicBezTo>
                  <a:pt x="30019" y="-2544"/>
                  <a:pt x="5851" y="3053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61548fcfa_1_38"/>
          <p:cNvSpPr txBox="1"/>
          <p:nvPr/>
        </p:nvSpPr>
        <p:spPr>
          <a:xfrm>
            <a:off x="725801" y="1185050"/>
            <a:ext cx="18623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if: повний синтаксис.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161548fcfa_1_38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9" name="Google Shape;119;g3161548fcfa_1_38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0" name="Google Shape;120;g3161548fcfa_1_38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161548fcfa_1_38"/>
          <p:cNvSpPr txBox="1"/>
          <p:nvPr/>
        </p:nvSpPr>
        <p:spPr>
          <a:xfrm>
            <a:off x="3531625" y="4487600"/>
            <a:ext cx="5323200" cy="46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statement(s)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statement(s)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statement(s)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statement(s)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31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g3161548fcfa_1_38"/>
          <p:cNvSpPr/>
          <p:nvPr/>
        </p:nvSpPr>
        <p:spPr>
          <a:xfrm>
            <a:off x="7404825" y="4487600"/>
            <a:ext cx="438900" cy="3224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g3161548fcfa_1_38"/>
          <p:cNvSpPr/>
          <p:nvPr/>
        </p:nvSpPr>
        <p:spPr>
          <a:xfrm>
            <a:off x="9046550" y="4583000"/>
            <a:ext cx="6201300" cy="383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умови блоків коду “if” та “elif” перевіряються послідовно і виконується той &lt;expression&gt; якого першим визначається як True. Після цього інші умови - не перевіряються.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g3161548fcfa_1_38"/>
          <p:cNvSpPr/>
          <p:nvPr/>
        </p:nvSpPr>
        <p:spPr>
          <a:xfrm rot="5403604">
            <a:off x="5840091" y="7960282"/>
            <a:ext cx="286200" cy="2385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161548fcfa_1_38"/>
          <p:cNvSpPr/>
          <p:nvPr/>
        </p:nvSpPr>
        <p:spPr>
          <a:xfrm>
            <a:off x="878450" y="10204625"/>
            <a:ext cx="12422100" cy="126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блок коду “else” виконується лише якщо ні в одному з блоків “if” або “elif” &lt;expression&gt; не було оцінено як True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g3161548fcfa_1_38"/>
          <p:cNvSpPr/>
          <p:nvPr/>
        </p:nvSpPr>
        <p:spPr>
          <a:xfrm>
            <a:off x="725800" y="2764625"/>
            <a:ext cx="9636300" cy="126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блоки коду “elif” та “else” - є опціональними і не обовʼязково присутніми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g3161548fcfa_1_38"/>
          <p:cNvSpPr/>
          <p:nvPr/>
        </p:nvSpPr>
        <p:spPr>
          <a:xfrm>
            <a:off x="7843650" y="6109400"/>
            <a:ext cx="1202025" cy="934900"/>
          </a:xfrm>
          <a:custGeom>
            <a:rect b="b" l="l" r="r" t="t"/>
            <a:pathLst>
              <a:path extrusionOk="0" h="37396" w="48081">
                <a:moveTo>
                  <a:pt x="0" y="0"/>
                </a:moveTo>
                <a:cubicBezTo>
                  <a:pt x="3689" y="1908"/>
                  <a:pt x="16917" y="6486"/>
                  <a:pt x="22132" y="11447"/>
                </a:cubicBezTo>
                <a:cubicBezTo>
                  <a:pt x="27347" y="16408"/>
                  <a:pt x="26966" y="25439"/>
                  <a:pt x="31291" y="29764"/>
                </a:cubicBezTo>
                <a:cubicBezTo>
                  <a:pt x="35616" y="34089"/>
                  <a:pt x="45283" y="36124"/>
                  <a:pt x="48081" y="3739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sp>
      <p:sp>
        <p:nvSpPr>
          <p:cNvPr id="128" name="Google Shape;128;g3161548fcfa_1_38"/>
          <p:cNvSpPr/>
          <p:nvPr/>
        </p:nvSpPr>
        <p:spPr>
          <a:xfrm>
            <a:off x="5992900" y="9333875"/>
            <a:ext cx="1044025" cy="839525"/>
          </a:xfrm>
          <a:custGeom>
            <a:rect b="b" l="l" r="r" t="t"/>
            <a:pathLst>
              <a:path extrusionOk="0" h="33581" w="41761">
                <a:moveTo>
                  <a:pt x="41213" y="33581"/>
                </a:moveTo>
                <a:cubicBezTo>
                  <a:pt x="40704" y="30783"/>
                  <a:pt x="44138" y="20225"/>
                  <a:pt x="38160" y="16790"/>
                </a:cubicBezTo>
                <a:cubicBezTo>
                  <a:pt x="32182" y="13356"/>
                  <a:pt x="11703" y="15772"/>
                  <a:pt x="5343" y="12974"/>
                </a:cubicBezTo>
                <a:cubicBezTo>
                  <a:pt x="-1017" y="10176"/>
                  <a:pt x="891" y="216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61548fcfa_1_75"/>
          <p:cNvSpPr txBox="1"/>
          <p:nvPr/>
        </p:nvSpPr>
        <p:spPr>
          <a:xfrm>
            <a:off x="725801" y="1185050"/>
            <a:ext cx="18623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if: оператори в один рядок.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g3161548fcfa_1_75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" name="Google Shape;135;g3161548fcfa_1_75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6" name="Google Shape;136;g3161548fcfa_1_75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161548fcfa_1_75"/>
          <p:cNvSpPr/>
          <p:nvPr/>
        </p:nvSpPr>
        <p:spPr>
          <a:xfrm>
            <a:off x="725800" y="2612225"/>
            <a:ext cx="16314300" cy="147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CE5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!! такий синтаксис - не є рекомендованим. Але - це працює і, якщо це допоможе Вам зробити Ваш код більш зрозумілим і виразним - робіть це.</a:t>
            </a:r>
            <a:endParaRPr sz="3100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8" name="Google Shape;138;g3161548fcfa_1_75"/>
          <p:cNvSpPr txBox="1"/>
          <p:nvPr/>
        </p:nvSpPr>
        <p:spPr>
          <a:xfrm>
            <a:off x="898575" y="4319600"/>
            <a:ext cx="13699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expression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statement_1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statement_2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statement_n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g3161548fcfa_1_75"/>
          <p:cNvSpPr/>
          <p:nvPr/>
        </p:nvSpPr>
        <p:spPr>
          <a:xfrm rot="-5400000">
            <a:off x="7423825" y="-1483725"/>
            <a:ext cx="534300" cy="1324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g3161548fcfa_1_75"/>
          <p:cNvSpPr/>
          <p:nvPr/>
        </p:nvSpPr>
        <p:spPr>
          <a:xfrm>
            <a:off x="468200" y="5614150"/>
            <a:ext cx="18308100" cy="135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Якщо &lt;expression&gt; оцінюється як True - виконати всі &lt;statement_1&gt; ... &lt;statement_n&gt;. В іншому випадку не виконуйте жодного з них (виконати наступний рядок)</a:t>
            </a:r>
            <a:endParaRPr b="1" sz="3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g3161548fcfa_1_75"/>
          <p:cNvSpPr txBox="1"/>
          <p:nvPr/>
        </p:nvSpPr>
        <p:spPr>
          <a:xfrm>
            <a:off x="725800" y="7390788"/>
            <a:ext cx="14977800" cy="35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expression_1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</a:t>
            </a: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expression_2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 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expression_n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3161548fcfa_1_75"/>
          <p:cNvSpPr/>
          <p:nvPr/>
        </p:nvSpPr>
        <p:spPr>
          <a:xfrm>
            <a:off x="468200" y="10911000"/>
            <a:ext cx="14977800" cy="135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lang="en-US" sz="3100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І в загальному випадку кожна з можливих “гілок” виразу “if” допускає запис а один рядок аналогічним чином.</a:t>
            </a:r>
            <a:endParaRPr b="1" sz="3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61548fcfa_1_100"/>
          <p:cNvSpPr txBox="1"/>
          <p:nvPr/>
        </p:nvSpPr>
        <p:spPr>
          <a:xfrm>
            <a:off x="725801" y="1185050"/>
            <a:ext cx="186231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if: тернарний оператор.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g3161548fcfa_1_100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49" name="Google Shape;149;g3161548fcfa_1_100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50" name="Google Shape;150;g3161548fcfa_1_100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161548fcfa_1_100"/>
          <p:cNvSpPr txBox="1"/>
          <p:nvPr/>
        </p:nvSpPr>
        <p:spPr>
          <a:xfrm>
            <a:off x="468200" y="4073925"/>
            <a:ext cx="11619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expression_1&gt;</a:t>
            </a: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29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expr_condional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9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else 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&lt;expression_1&gt;</a:t>
            </a:r>
            <a:endParaRPr b="1" sz="2900">
              <a:solidFill>
                <a:srgbClr val="CE5C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g3161548fcfa_1_100"/>
          <p:cNvSpPr/>
          <p:nvPr/>
        </p:nvSpPr>
        <p:spPr>
          <a:xfrm>
            <a:off x="468200" y="5004550"/>
            <a:ext cx="14435100" cy="335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як це працює: </a:t>
            </a:r>
            <a:endParaRPr b="1" sz="3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ontserrat"/>
              <a:buChar char="-"/>
            </a:pP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оцінюємо 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expr_condional</a:t>
            </a:r>
            <a:r>
              <a:rPr b="1" lang="en-US" sz="29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в “булевському контексті”. Якщо:</a:t>
            </a:r>
            <a:endParaRPr b="1" sz="3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	- True - повертаємо значення 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&lt;expression_1&gt;</a:t>
            </a:r>
            <a:endParaRPr b="1" sz="29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  -</a:t>
            </a: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False - повертаємо значення </a:t>
            </a:r>
            <a:r>
              <a:rPr b="1" lang="en-US" sz="2900">
                <a:latin typeface="Consolas"/>
                <a:ea typeface="Consolas"/>
                <a:cs typeface="Consolas"/>
                <a:sym typeface="Consolas"/>
              </a:rPr>
              <a:t>&lt;expression_2&gt;</a:t>
            </a:r>
            <a:endParaRPr b="1" sz="29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g3161548fcfa_1_100"/>
          <p:cNvSpPr/>
          <p:nvPr/>
        </p:nvSpPr>
        <p:spPr>
          <a:xfrm>
            <a:off x="563350" y="2587625"/>
            <a:ext cx="18308100" cy="9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b="1" lang="en-US" sz="3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це - вираз. Це значить що він “обчислюється” і заміняє себе - результатом.</a:t>
            </a:r>
            <a:endParaRPr b="1" sz="3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g3161548fcfa_1_100"/>
          <p:cNvSpPr txBox="1"/>
          <p:nvPr/>
        </p:nvSpPr>
        <p:spPr>
          <a:xfrm>
            <a:off x="725800" y="9449325"/>
            <a:ext cx="14805900" cy="15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Кілька</a:t>
            </a: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таких виразів можуть поєднуватись в ланцюжки - і слугувати альтернативою структурі if/elif/else.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61548fcfa_1_115"/>
          <p:cNvSpPr txBox="1"/>
          <p:nvPr/>
        </p:nvSpPr>
        <p:spPr>
          <a:xfrm>
            <a:off x="725800" y="1185050"/>
            <a:ext cx="210270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Як правильно “нічого не робити” в Python</a:t>
            </a:r>
            <a:endParaRPr b="1" i="0" sz="3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161548fcfa_1_115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1" name="Google Shape;161;g3161548fcfa_1_115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62" name="Google Shape;162;g3161548fcfa_1_115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161548fcfa_1_115"/>
          <p:cNvSpPr txBox="1"/>
          <p:nvPr/>
        </p:nvSpPr>
        <p:spPr>
          <a:xfrm>
            <a:off x="1051225" y="2751350"/>
            <a:ext cx="5647500" cy="46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expression_1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expression_2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expression_3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g3161548fcfa_1_115"/>
          <p:cNvSpPr txBox="1"/>
          <p:nvPr/>
        </p:nvSpPr>
        <p:spPr>
          <a:xfrm>
            <a:off x="8873700" y="2905425"/>
            <a:ext cx="5647500" cy="46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expression_1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expression_2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elif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expression_3</a:t>
            </a:r>
            <a:r>
              <a:rPr b="1" lang="en-US" sz="3100">
                <a:solidFill>
                  <a:srgbClr val="CE5C00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04A87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-US" sz="3100"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3100">
              <a:solidFill>
                <a:srgbClr val="21252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39700" marR="139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US" sz="3100">
                <a:solidFill>
                  <a:srgbClr val="21252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4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g3161548fcfa_1_115"/>
          <p:cNvSpPr txBox="1"/>
          <p:nvPr/>
        </p:nvSpPr>
        <p:spPr>
          <a:xfrm>
            <a:off x="630400" y="7770300"/>
            <a:ext cx="16066200" cy="45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Періодично під час написання коду вам необхідно “нічого не робити” (це може бути просто “заглушкою” на певний період). Це можна досягти декількома шляхами.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AutoNum type="arabicParenR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використання оператора pass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AutoNum type="arabicParenR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використання обʼєкту Ellipsis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Формально pass - більш логічний в такій ситуації варіант. Але Ellipsis може викорстовуватись в деяких ситуаціях, коли pass недопустимий (наприклад як аргумент для функції print())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42b68fc57_0_666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1" name="Google Shape;171;g3142b68fc57_0_666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72" name="Google Shape;172;g3142b68fc57_0_666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142b68fc57_0_666"/>
          <p:cNvSpPr txBox="1"/>
          <p:nvPr/>
        </p:nvSpPr>
        <p:spPr>
          <a:xfrm>
            <a:off x="1547400" y="3312050"/>
            <a:ext cx="18885300" cy="7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Montserrat"/>
              <a:buChar char="-"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для керування потоком виконання коду може використовуватись конструкція if/elif/else. Розділи elif та else - не є обовʼязковими</a:t>
            </a:r>
            <a:endParaRPr b="1" i="0" sz="3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Montserrat"/>
              <a:buChar char="-"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блоки коду в Python формуються за допомогою відступів. Відступи можуть формуватись пробілами (будь-яка кількість, але однакова в межах одного скрипта. Рекомендується 4.) або знаками табуляції (але не одночасно в одному скрипті - або пробіли, або табуляція).</a:t>
            </a:r>
            <a:endParaRPr b="1" i="0" sz="3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Montserrat"/>
              <a:buChar char="-"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є однорядкові варіанти запису блоку операторів з розділом крапкою з комою - але це не вважається хорошим стилем</a:t>
            </a:r>
            <a:endParaRPr b="1" sz="3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Montserrat"/>
              <a:buChar char="-"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тернарний оператор в деяких випадках може бути зручним інструментом, так як він не лише обере вираз для обчислення, а й одразу поверне результат “на місті”</a:t>
            </a:r>
            <a:endParaRPr b="1" sz="3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Montserrat"/>
              <a:buChar char="-"/>
            </a:pPr>
            <a:r>
              <a:rPr b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у випадках коли ми поступово пишемо код, для створення синтаксично правильних блоків коду які “нічого не роблять”, зручно використовувати оператор pass або обʼєкт Ellipsis</a:t>
            </a:r>
            <a:endParaRPr b="1" i="0" sz="3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g3142b68fc57_0_666"/>
          <p:cNvSpPr txBox="1"/>
          <p:nvPr/>
        </p:nvSpPr>
        <p:spPr>
          <a:xfrm>
            <a:off x="1446076" y="1791825"/>
            <a:ext cx="183168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lang="en-US" sz="6600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if</a:t>
            </a:r>
            <a:r>
              <a:rPr b="0" i="0" lang="en-US" sz="6600" u="none" cap="none" strike="noStrik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: summary</a:t>
            </a:r>
            <a:endParaRPr b="1" i="0" sz="3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0F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42b68fc57_0_693"/>
          <p:cNvSpPr/>
          <p:nvPr/>
        </p:nvSpPr>
        <p:spPr>
          <a:xfrm>
            <a:off x="9647" y="12686976"/>
            <a:ext cx="24483600" cy="8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0" name="Google Shape;180;g3142b68fc57_0_693"/>
          <p:cNvSpPr/>
          <p:nvPr/>
        </p:nvSpPr>
        <p:spPr>
          <a:xfrm>
            <a:off x="9652" y="413275"/>
            <a:ext cx="24275100" cy="169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Helvetica Neue"/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81" name="Google Shape;181;g3142b68fc57_0_693"/>
          <p:cNvSpPr txBox="1"/>
          <p:nvPr/>
        </p:nvSpPr>
        <p:spPr>
          <a:xfrm>
            <a:off x="16413549" y="12759250"/>
            <a:ext cx="7224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</a:pPr>
            <a:r>
              <a:rPr b="0" i="0" lang="en-US" sz="3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Костянтин Зівенко, </a:t>
            </a:r>
            <a:r>
              <a:rPr b="0" i="0" lang="en-US" sz="4000" u="none" cap="none" strike="noStrike">
                <a:solidFill>
                  <a:srgbClr val="FFFF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2025. </a:t>
            </a:r>
            <a:endParaRPr b="0" i="0" sz="1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142b68fc57_0_693"/>
          <p:cNvSpPr txBox="1"/>
          <p:nvPr/>
        </p:nvSpPr>
        <p:spPr>
          <a:xfrm>
            <a:off x="1547400" y="4613450"/>
            <a:ext cx="18885300" cy="55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Напишіть скрипт, який визначає яким є введене число - парним чи непарним.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напишіть скрипт який отримує на вхід будь-яке число. Скрипт повинен класифікувати введене число з точки зору - “позитивне/негативне” і “однозначне/двозначне/трьохзначне/більше ніж троьохзначне”. Ноль - враховувати як окремий варіант. Приклад виводу для: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25 - “двозначне позитивне”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-345 - “тризначне негативне”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2345 - “більше ніж трьохзначне позитивне”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31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ontserrat"/>
              <a:buChar char="-"/>
            </a:pPr>
            <a:r>
              <a:rPr b="1" lang="en-US" sz="3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0 - “ноль”</a:t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3600"/>
              <a:buFont typeface="Montserrat"/>
              <a:buNone/>
            </a:pPr>
            <a:r>
              <a:t/>
            </a:r>
            <a:endParaRPr b="1" sz="3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3142b68fc57_0_693"/>
          <p:cNvSpPr txBox="1"/>
          <p:nvPr/>
        </p:nvSpPr>
        <p:spPr>
          <a:xfrm>
            <a:off x="1446076" y="1791825"/>
            <a:ext cx="183168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6600"/>
              <a:buFont typeface="Montserrat ExtraBold"/>
              <a:buNone/>
            </a:pPr>
            <a:r>
              <a:rPr b="0" i="0" lang="en-US" sz="6600" u="none" cap="none" strike="noStrik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Самостійне опрацювання:</a:t>
            </a:r>
            <a:endParaRPr b="1" i="0" sz="3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4" name="Google Shape;184;g3142b68fc57_0_693"/>
          <p:cNvSpPr txBox="1"/>
          <p:nvPr/>
        </p:nvSpPr>
        <p:spPr>
          <a:xfrm>
            <a:off x="1161825" y="11150863"/>
            <a:ext cx="188853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423"/>
              </a:buClr>
              <a:buSzPts val="3600"/>
              <a:buFont typeface="Montserrat"/>
              <a:buNone/>
            </a:pPr>
            <a:r>
              <a:rPr b="1" i="1" lang="en-US" sz="3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Наступний матеріал: </a:t>
            </a:r>
            <a:r>
              <a:rPr b="1" i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циклічні конструкції</a:t>
            </a:r>
            <a:r>
              <a:rPr b="1" i="1" lang="en-US" sz="3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i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Цикли while/for </a:t>
            </a:r>
            <a:r>
              <a:rPr b="1" i="1" lang="en-US" sz="3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..</a:t>
            </a:r>
            <a:r>
              <a:rPr b="1" i="1" lang="en-US" sz="36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1" i="1" sz="36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